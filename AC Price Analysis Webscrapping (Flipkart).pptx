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7216" y="6286498"/>
            <a:ext cx="2945892" cy="4450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" y="0"/>
            <a:ext cx="9246107" cy="20909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0957" y="2611069"/>
            <a:ext cx="700976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6304" y="4703445"/>
            <a:ext cx="6268720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216" y="6286498"/>
            <a:ext cx="2945892" cy="4450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1180" y="345186"/>
            <a:ext cx="11089639" cy="129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226" y="1596771"/>
            <a:ext cx="9793605" cy="1828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linkedin.com/in/suryaprakashnamburi/" TargetMode="External"/><Relationship Id="rId3" Type="http://schemas.openxmlformats.org/officeDocument/2006/relationships/hyperlink" Target="https://www.linkedin.com/in/mani-k-79b359345/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673860" marR="5080" indent="-1661795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000000"/>
                </a:solidFill>
                <a:latin typeface="Arial"/>
                <a:cs typeface="Arial"/>
              </a:rPr>
              <a:t>AC</a:t>
            </a:r>
            <a:r>
              <a:rPr dirty="0" sz="4800" spc="-10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80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dirty="0" sz="4800" spc="-6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800" spc="-10">
                <a:solidFill>
                  <a:srgbClr val="000000"/>
                </a:solidFill>
                <a:latin typeface="Arial"/>
                <a:cs typeface="Arial"/>
              </a:rPr>
              <a:t>Analysis</a:t>
            </a:r>
            <a:r>
              <a:rPr dirty="0" sz="4800" spc="-24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800" spc="-10">
                <a:solidFill>
                  <a:srgbClr val="000000"/>
                </a:solidFill>
                <a:latin typeface="Arial"/>
                <a:cs typeface="Arial"/>
              </a:rPr>
              <a:t>using </a:t>
            </a:r>
            <a:r>
              <a:rPr dirty="0" sz="4800">
                <a:solidFill>
                  <a:srgbClr val="000000"/>
                </a:solidFill>
                <a:latin typeface="Arial"/>
                <a:cs typeface="Arial"/>
              </a:rPr>
              <a:t>Flipkart</a:t>
            </a:r>
            <a:r>
              <a:rPr dirty="0" sz="4800" spc="-3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4800" spc="-2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59965" marR="5080" indent="-2247900">
              <a:lnSpc>
                <a:spcPct val="100000"/>
              </a:lnSpc>
              <a:spcBef>
                <a:spcPts val="100"/>
              </a:spcBef>
            </a:pPr>
            <a:r>
              <a:rPr dirty="0" sz="2400" spc="-45">
                <a:solidFill>
                  <a:srgbClr val="DF1F24"/>
                </a:solidFill>
                <a:latin typeface="Arial"/>
                <a:cs typeface="Arial"/>
              </a:rPr>
              <a:t>Data-</a:t>
            </a:r>
            <a:r>
              <a:rPr dirty="0" sz="2400">
                <a:solidFill>
                  <a:srgbClr val="DF1F24"/>
                </a:solidFill>
                <a:latin typeface="Arial"/>
                <a:cs typeface="Arial"/>
              </a:rPr>
              <a:t>Driven</a:t>
            </a:r>
            <a:r>
              <a:rPr dirty="0" sz="2400" spc="-65">
                <a:solidFill>
                  <a:srgbClr val="DF1F2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DF1F24"/>
                </a:solidFill>
                <a:latin typeface="Arial"/>
                <a:cs typeface="Arial"/>
              </a:rPr>
              <a:t>Insights</a:t>
            </a:r>
            <a:r>
              <a:rPr dirty="0" sz="2400" spc="-120">
                <a:solidFill>
                  <a:srgbClr val="DF1F2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DF1F24"/>
                </a:solidFill>
                <a:latin typeface="Arial"/>
                <a:cs typeface="Arial"/>
              </a:rPr>
              <a:t>on</a:t>
            </a:r>
            <a:r>
              <a:rPr dirty="0" sz="2400" spc="-135">
                <a:solidFill>
                  <a:srgbClr val="DF1F24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DF1F24"/>
                </a:solidFill>
                <a:latin typeface="Arial"/>
                <a:cs typeface="Arial"/>
              </a:rPr>
              <a:t>Air</a:t>
            </a:r>
            <a:r>
              <a:rPr dirty="0" sz="2400" spc="-105">
                <a:solidFill>
                  <a:srgbClr val="DF1F24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DF1F24"/>
                </a:solidFill>
                <a:latin typeface="Arial"/>
                <a:cs typeface="Arial"/>
              </a:rPr>
              <a:t>Conditioner</a:t>
            </a:r>
            <a:r>
              <a:rPr dirty="0" sz="2400" spc="-65">
                <a:solidFill>
                  <a:srgbClr val="DF1F24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DF1F24"/>
                </a:solidFill>
                <a:latin typeface="Arial"/>
                <a:cs typeface="Arial"/>
              </a:rPr>
              <a:t>Pricing </a:t>
            </a:r>
            <a:r>
              <a:rPr dirty="0" sz="2400">
                <a:solidFill>
                  <a:srgbClr val="DF1F24"/>
                </a:solidFill>
                <a:latin typeface="Arial"/>
                <a:cs typeface="Arial"/>
              </a:rPr>
              <a:t>Using</a:t>
            </a:r>
            <a:r>
              <a:rPr dirty="0" sz="2400" spc="-145">
                <a:solidFill>
                  <a:srgbClr val="DF1F24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DF1F24"/>
                </a:solidFill>
                <a:latin typeface="Arial"/>
                <a:cs typeface="Arial"/>
              </a:rPr>
              <a:t>Python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79475" y="1499362"/>
            <a:ext cx="10509250" cy="3100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SzPct val="90000"/>
              <a:buChar char="•"/>
              <a:tabLst>
                <a:tab pos="299085" algn="l"/>
              </a:tabLst>
            </a:pPr>
            <a:r>
              <a:rPr dirty="0" sz="2000">
                <a:latin typeface="Arial"/>
                <a:cs typeface="Arial"/>
              </a:rPr>
              <a:t>We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are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team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B.Tech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graduates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Electronics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Communication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Engineering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(ECE)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aspiring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data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analysts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passionate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about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transforming</a:t>
            </a:r>
            <a:r>
              <a:rPr dirty="0" sz="2000" spc="-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raw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data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into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meaningful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insights.</a:t>
            </a:r>
            <a:endParaRPr sz="20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660"/>
              </a:spcBef>
              <a:buSzPct val="90000"/>
              <a:buChar char="•"/>
              <a:tabLst>
                <a:tab pos="299085" algn="l"/>
              </a:tabLst>
            </a:pPr>
            <a:r>
              <a:rPr dirty="0" sz="2000">
                <a:latin typeface="Arial"/>
                <a:cs typeface="Arial"/>
              </a:rPr>
              <a:t>This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project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—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“AC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Price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Analysis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using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Web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Scraping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Pandas”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—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was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developed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to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Font typeface="Arial"/>
              <a:buChar char="•"/>
            </a:pPr>
            <a:endParaRPr sz="20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Arial"/>
                <a:cs typeface="Arial"/>
              </a:rPr>
              <a:t>study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market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TRENDS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air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conditioners</a:t>
            </a:r>
            <a:r>
              <a:rPr dirty="0" sz="2000" spc="-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on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Flipkart.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000">
              <a:latin typeface="Arial"/>
              <a:cs typeface="Arial"/>
            </a:endParaRPr>
          </a:p>
          <a:p>
            <a:pPr marL="299085" marR="170180" indent="-287020">
              <a:lnSpc>
                <a:spcPct val="100000"/>
              </a:lnSpc>
              <a:buSzPct val="90000"/>
              <a:buChar char="•"/>
              <a:tabLst>
                <a:tab pos="299085" algn="l"/>
              </a:tabLst>
            </a:pPr>
            <a:r>
              <a:rPr dirty="0" sz="2000">
                <a:latin typeface="Arial"/>
                <a:cs typeface="Arial"/>
              </a:rPr>
              <a:t>Our</a:t>
            </a:r>
            <a:r>
              <a:rPr dirty="0" sz="2000" spc="-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goal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analyze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pricing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patterns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114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brand</a:t>
            </a:r>
            <a:r>
              <a:rPr dirty="0" sz="2000" spc="-7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comparisons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9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seasonal</a:t>
            </a:r>
            <a:r>
              <a:rPr dirty="0" sz="2000" spc="-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trends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using </a:t>
            </a:r>
            <a:r>
              <a:rPr dirty="0" sz="2000">
                <a:latin typeface="Arial"/>
                <a:cs typeface="Arial"/>
              </a:rPr>
              <a:t>data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-</a:t>
            </a:r>
            <a:r>
              <a:rPr dirty="0" sz="2000" spc="-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driven</a:t>
            </a:r>
            <a:r>
              <a:rPr dirty="0" sz="2000" spc="-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techniques</a:t>
            </a:r>
            <a:r>
              <a:rPr dirty="0" sz="2000" spc="-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Python.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251" y="711200"/>
            <a:ext cx="168592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30">
                <a:latin typeface="Tahoma"/>
                <a:cs typeface="Tahoma"/>
              </a:rPr>
              <a:t>About</a:t>
            </a:r>
            <a:r>
              <a:rPr dirty="0" sz="3200" spc="-245">
                <a:latin typeface="Tahoma"/>
                <a:cs typeface="Tahoma"/>
              </a:rPr>
              <a:t> </a:t>
            </a:r>
            <a:r>
              <a:rPr dirty="0" sz="3200" spc="-100">
                <a:latin typeface="Tahoma"/>
                <a:cs typeface="Tahoma"/>
              </a:rPr>
              <a:t>us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9838" y="5024120"/>
            <a:ext cx="420052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Connect</a:t>
            </a:r>
            <a:r>
              <a:rPr dirty="0" u="sng" sz="1400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with</a:t>
            </a:r>
            <a:r>
              <a:rPr dirty="0" u="sng" sz="14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me</a:t>
            </a:r>
            <a:r>
              <a:rPr dirty="0" u="sng" sz="1400" spc="-2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on</a:t>
            </a:r>
            <a:r>
              <a:rPr dirty="0" u="sng" sz="14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Linkedin</a:t>
            </a:r>
            <a:r>
              <a:rPr dirty="0" u="sng" sz="1400" spc="-9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Surya</a:t>
            </a:r>
            <a:r>
              <a:rPr dirty="0" u="sng" sz="1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Namburi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Arial"/>
                <a:cs typeface="Arial"/>
                <a:hlinkClick r:id="rId2"/>
              </a:rPr>
              <a:t>https://www.linkedin.com/in/suryaprakashnamburi/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240017" y="5024120"/>
            <a:ext cx="3977004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Connect</a:t>
            </a:r>
            <a:r>
              <a:rPr dirty="0" u="sng" sz="1400" spc="-7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with</a:t>
            </a:r>
            <a:r>
              <a:rPr dirty="0" u="sng" sz="1400" spc="-2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me</a:t>
            </a:r>
            <a:r>
              <a:rPr dirty="0" u="sng" sz="14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on</a:t>
            </a:r>
            <a:r>
              <a:rPr dirty="0" u="sng" sz="1400" spc="-3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Linkedin</a:t>
            </a:r>
            <a:r>
              <a:rPr dirty="0" u="sng" sz="1400" spc="-9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Mani</a:t>
            </a:r>
            <a:r>
              <a:rPr dirty="0" u="sng" sz="1400" spc="-4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dirty="0" u="sng" sz="1400" spc="-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  <a:hlinkClick r:id="rId2"/>
              </a:rPr>
              <a:t>K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dirty="0" u="sng" sz="1400" spc="-25">
                <a:solidFill>
                  <a:srgbClr val="0000FF"/>
                </a:solidFill>
                <a:uFill>
                  <a:solidFill>
                    <a:srgbClr val="934F70"/>
                  </a:solidFill>
                </a:uFill>
                <a:latin typeface="Arial"/>
                <a:cs typeface="Arial"/>
                <a:hlinkClick r:id="rId3"/>
              </a:rPr>
              <a:t>https://www.linkedin.com/in/mani-</a:t>
            </a:r>
            <a:r>
              <a:rPr dirty="0" u="sng" sz="1400" spc="-20">
                <a:solidFill>
                  <a:srgbClr val="0000FF"/>
                </a:solidFill>
                <a:uFill>
                  <a:solidFill>
                    <a:srgbClr val="934F70"/>
                  </a:solidFill>
                </a:uFill>
                <a:latin typeface="Arial"/>
                <a:cs typeface="Arial"/>
                <a:hlinkClick r:id="rId3"/>
              </a:rPr>
              <a:t>k-</a:t>
            </a:r>
            <a:r>
              <a:rPr dirty="0" u="sng" sz="1400" spc="-10">
                <a:solidFill>
                  <a:srgbClr val="0000FF"/>
                </a:solidFill>
                <a:uFill>
                  <a:solidFill>
                    <a:srgbClr val="934F70"/>
                  </a:solidFill>
                </a:uFill>
                <a:latin typeface="Arial"/>
                <a:cs typeface="Arial"/>
                <a:hlinkClick r:id="rId3"/>
              </a:rPr>
              <a:t>79b359345/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27354" y="1948637"/>
            <a:ext cx="10630535" cy="3082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air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conditioner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(AC)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market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rapidly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growing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diverse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brands,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models,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pricing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strategies.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Understanding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pricing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patterns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helps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identify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market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trends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consumer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preferences.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49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This</a:t>
            </a:r>
            <a:r>
              <a:rPr dirty="0" sz="1800" spc="-9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project,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“AC</a:t>
            </a:r>
            <a:r>
              <a:rPr dirty="0" sz="1800" spc="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Analysis</a:t>
            </a:r>
            <a:r>
              <a:rPr dirty="0" sz="1800" spc="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using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Web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Scraping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Pandas,”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focuses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on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analyzing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Arial"/>
                <a:cs typeface="Arial"/>
              </a:rPr>
              <a:t>scraped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Flipkart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8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uncover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insights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about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pricing,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brand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comparisons,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seasonal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variations.</a:t>
            </a:r>
            <a:endParaRPr sz="1800">
              <a:latin typeface="Arial"/>
              <a:cs typeface="Arial"/>
            </a:endParaRPr>
          </a:p>
          <a:p>
            <a:pPr marL="299085" marR="5080" indent="-287020">
              <a:lnSpc>
                <a:spcPct val="204400"/>
              </a:lnSpc>
              <a:spcBef>
                <a:spcPts val="685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analysis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performed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Python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tools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like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BeautifulSoup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Pandas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extraction, </a:t>
            </a:r>
            <a:r>
              <a:rPr dirty="0" sz="1800">
                <a:latin typeface="Arial"/>
                <a:cs typeface="Arial"/>
              </a:rPr>
              <a:t>cleaning,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visualization.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1865" rIns="0" bIns="0" rtlCol="0" vert="horz">
            <a:spAutoFit/>
          </a:bodyPr>
          <a:lstStyle/>
          <a:p>
            <a:pPr marL="37782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Business</a:t>
            </a:r>
            <a:r>
              <a:rPr dirty="0" spc="-8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Problem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635" y="2029714"/>
            <a:ext cx="10205085" cy="2845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Arial"/>
                <a:cs typeface="Arial"/>
              </a:rPr>
              <a:t>Consumers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face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difficulty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choosing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right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due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varying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prices,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brands,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features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Arial"/>
                <a:cs typeface="Arial"/>
              </a:rPr>
              <a:t>Retailers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marketers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need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insights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pricing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trends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remain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competitive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market.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2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 market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is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highly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dynamic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seasonal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fluctuations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affecting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prices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consumer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demand.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372" y="746251"/>
            <a:ext cx="252984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>
                <a:latin typeface="Arial"/>
                <a:cs typeface="Arial"/>
              </a:rPr>
              <a:t>Objective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4981" y="2021789"/>
            <a:ext cx="9859010" cy="310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0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scrape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real-</a:t>
            </a:r>
            <a:r>
              <a:rPr dirty="0" sz="1800" b="1">
                <a:latin typeface="Arial"/>
                <a:cs typeface="Arial"/>
              </a:rPr>
              <a:t>time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</a:t>
            </a:r>
            <a:r>
              <a:rPr dirty="0" sz="1800" spc="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from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Flipkart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Python-</a:t>
            </a:r>
            <a:r>
              <a:rPr dirty="0" sz="1800">
                <a:latin typeface="Arial"/>
                <a:cs typeface="Arial"/>
              </a:rPr>
              <a:t>based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web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scraping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tools.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analyze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pricing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trends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different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brands,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capacities,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(e.g.,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star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rating,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inverter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type).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0"/>
              </a:spcBef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visualize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insights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through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graphs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charts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Pandas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Matplotlib/Seaborn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9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10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derive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30" b="1">
                <a:latin typeface="Arial"/>
                <a:cs typeface="Arial"/>
              </a:rPr>
              <a:t>data-</a:t>
            </a:r>
            <a:r>
              <a:rPr dirty="0" sz="1800" b="1">
                <a:latin typeface="Arial"/>
                <a:cs typeface="Arial"/>
              </a:rPr>
              <a:t>driven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insights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help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understand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market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behavior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consumer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choices.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861" rIns="0" bIns="0" rtlCol="0" vert="horz">
            <a:spAutoFit/>
          </a:bodyPr>
          <a:lstStyle/>
          <a:p>
            <a:pPr marL="37782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Tools</a:t>
            </a:r>
            <a:r>
              <a:rPr dirty="0" spc="-50">
                <a:latin typeface="Arial"/>
                <a:cs typeface="Arial"/>
              </a:rPr>
              <a:t> </a:t>
            </a:r>
            <a:r>
              <a:rPr dirty="0" spc="-20">
                <a:latin typeface="Arial"/>
                <a:cs typeface="Arial"/>
              </a:rPr>
              <a:t>Used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0935" y="1818029"/>
            <a:ext cx="5833745" cy="428561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05"/>
              </a:spcBef>
              <a:buSzPct val="128571"/>
              <a:buFont typeface="Arial"/>
              <a:buChar char="•"/>
              <a:tabLst>
                <a:tab pos="354965" algn="l"/>
              </a:tabLst>
            </a:pPr>
            <a:r>
              <a:rPr dirty="0" sz="1400" b="1">
                <a:latin typeface="Arial"/>
                <a:cs typeface="Arial"/>
              </a:rPr>
              <a:t>1.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Programming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2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Data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Analysis: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310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b="1">
                <a:latin typeface="Arial"/>
                <a:cs typeface="Arial"/>
              </a:rPr>
              <a:t>Python</a:t>
            </a:r>
            <a:r>
              <a:rPr dirty="0" sz="1400" spc="4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Main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programming</a:t>
            </a:r>
            <a:r>
              <a:rPr dirty="0" sz="1400" spc="-11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language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scraping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300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b="1">
                <a:latin typeface="Arial"/>
                <a:cs typeface="Arial"/>
              </a:rPr>
              <a:t>Pandas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Data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manipulation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analysis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295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b="1">
                <a:latin typeface="Arial"/>
                <a:cs typeface="Arial"/>
              </a:rPr>
              <a:t>NumPy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Numerical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computations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70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SzPct val="128571"/>
              <a:buFont typeface="Arial"/>
              <a:buChar char="•"/>
              <a:tabLst>
                <a:tab pos="354965" algn="l"/>
              </a:tabLst>
            </a:pPr>
            <a:r>
              <a:rPr dirty="0" sz="1400" b="1">
                <a:latin typeface="Arial"/>
                <a:cs typeface="Arial"/>
              </a:rPr>
              <a:t>2.</a:t>
            </a:r>
            <a:r>
              <a:rPr dirty="0" sz="1400" spc="-5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Web</a:t>
            </a:r>
            <a:r>
              <a:rPr dirty="0" sz="1400" spc="-3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Scraping: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295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spc="-10" b="1">
                <a:latin typeface="Arial"/>
                <a:cs typeface="Arial"/>
              </a:rPr>
              <a:t>BeautifulSoup</a:t>
            </a:r>
            <a:r>
              <a:rPr dirty="0" sz="1400" spc="-10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Parsing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HTML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extracting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310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spc="-10" b="1">
                <a:latin typeface="Arial"/>
                <a:cs typeface="Arial"/>
              </a:rPr>
              <a:t>Requests</a:t>
            </a:r>
            <a:r>
              <a:rPr dirty="0" sz="1400" spc="-9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Sending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HTTP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requests</a:t>
            </a:r>
            <a:r>
              <a:rPr dirty="0" sz="1400" spc="-10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web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pages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295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b="1">
                <a:latin typeface="Arial"/>
                <a:cs typeface="Arial"/>
              </a:rPr>
              <a:t>re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(Regex)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Pattern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matching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extracting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features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75"/>
              </a:spcBef>
              <a:buFont typeface="Arial"/>
              <a:buChar char="•"/>
            </a:pPr>
            <a:endParaRPr sz="1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buSzPct val="128571"/>
              <a:buFont typeface="Arial"/>
              <a:buChar char="•"/>
              <a:tabLst>
                <a:tab pos="354965" algn="l"/>
              </a:tabLst>
            </a:pPr>
            <a:r>
              <a:rPr dirty="0" sz="1400" b="1">
                <a:latin typeface="Arial"/>
                <a:cs typeface="Arial"/>
              </a:rPr>
              <a:t>3.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Data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Visualization: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295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b="1">
                <a:latin typeface="Arial"/>
                <a:cs typeface="Arial"/>
              </a:rPr>
              <a:t>Matplotlib</a:t>
            </a:r>
            <a:r>
              <a:rPr dirty="0" sz="1400" spc="-10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Plotting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graphs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charts</a:t>
            </a:r>
            <a:endParaRPr sz="14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1410"/>
              </a:spcBef>
              <a:buSzPct val="128571"/>
              <a:buFont typeface="Arial"/>
              <a:buChar char="•"/>
              <a:tabLst>
                <a:tab pos="812165" algn="l"/>
              </a:tabLst>
            </a:pPr>
            <a:r>
              <a:rPr dirty="0" sz="1400" spc="-10" b="1">
                <a:latin typeface="Arial"/>
                <a:cs typeface="Arial"/>
              </a:rPr>
              <a:t>Seaborn</a:t>
            </a:r>
            <a:r>
              <a:rPr dirty="0" sz="1400" spc="-3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1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Enhanced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statistical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visualizations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635" y="382905"/>
            <a:ext cx="832993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Collection</a:t>
            </a:r>
            <a:r>
              <a:rPr dirty="0" spc="-4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(Web</a:t>
            </a:r>
            <a:r>
              <a:rPr dirty="0" spc="-4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Scraping)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635" y="1470507"/>
            <a:ext cx="8644255" cy="4436745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b="1">
                <a:latin typeface="Arial"/>
                <a:cs typeface="Arial"/>
              </a:rPr>
              <a:t>Source: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Flipkart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website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 listings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including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price,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brand,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model,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capacity,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star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rating,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inverter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type.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b="1">
                <a:latin typeface="Arial"/>
                <a:cs typeface="Arial"/>
              </a:rPr>
              <a:t>Tools</a:t>
            </a:r>
            <a:r>
              <a:rPr dirty="0" sz="1400" spc="-6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&amp;</a:t>
            </a:r>
            <a:r>
              <a:rPr dirty="0" sz="1400" spc="-40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Libraries: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400" spc="-10" b="1">
                <a:latin typeface="Arial"/>
                <a:cs typeface="Arial"/>
              </a:rPr>
              <a:t>Python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400" spc="-20" b="1">
                <a:latin typeface="Arial"/>
                <a:cs typeface="Arial"/>
              </a:rPr>
              <a:t>BeautifulSoup</a:t>
            </a:r>
            <a:r>
              <a:rPr dirty="0" sz="1400" spc="-8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parsing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HTML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pages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400" spc="-10" b="1">
                <a:latin typeface="Arial"/>
                <a:cs typeface="Arial"/>
              </a:rPr>
              <a:t>Requests</a:t>
            </a:r>
            <a:r>
              <a:rPr dirty="0" sz="1400" spc="-90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sending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HTTP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requests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400" b="1">
                <a:latin typeface="Arial"/>
                <a:cs typeface="Arial"/>
              </a:rPr>
              <a:t>Pandas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–</a:t>
            </a:r>
            <a:r>
              <a:rPr dirty="0" sz="1400" spc="-2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storing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managing</a:t>
            </a:r>
            <a:r>
              <a:rPr dirty="0" sz="1400" spc="-9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dataset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spc="-10" b="1">
                <a:latin typeface="Arial"/>
                <a:cs typeface="Arial"/>
              </a:rPr>
              <a:t>Process: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5"/>
              </a:spcBef>
              <a:buChar char="•"/>
              <a:tabLst>
                <a:tab pos="756285" algn="l"/>
              </a:tabLst>
            </a:pPr>
            <a:r>
              <a:rPr dirty="0" sz="1400">
                <a:latin typeface="Arial"/>
                <a:cs typeface="Arial"/>
              </a:rPr>
              <a:t>Send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HTTP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requests</a:t>
            </a:r>
            <a:r>
              <a:rPr dirty="0" sz="1400" spc="-10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Flipkart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AC</a:t>
            </a:r>
            <a:r>
              <a:rPr dirty="0" sz="1400" spc="-10">
                <a:latin typeface="Arial"/>
                <a:cs typeface="Arial"/>
              </a:rPr>
              <a:t> pages.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0"/>
              </a:spcBef>
              <a:buChar char="•"/>
              <a:tabLst>
                <a:tab pos="756285" algn="l"/>
              </a:tabLst>
            </a:pPr>
            <a:r>
              <a:rPr dirty="0" sz="1400">
                <a:latin typeface="Arial"/>
                <a:cs typeface="Arial"/>
              </a:rPr>
              <a:t>Parse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HTML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to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extract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product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details.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795"/>
              </a:spcBef>
              <a:buChar char="•"/>
              <a:tabLst>
                <a:tab pos="756285" algn="l"/>
              </a:tabLst>
            </a:pPr>
            <a:r>
              <a:rPr dirty="0" sz="1400">
                <a:latin typeface="Arial"/>
                <a:cs typeface="Arial"/>
              </a:rPr>
              <a:t>Store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extracted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data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structured</a:t>
            </a:r>
            <a:r>
              <a:rPr dirty="0" sz="1400" spc="-80" b="1">
                <a:latin typeface="Arial"/>
                <a:cs typeface="Arial"/>
              </a:rPr>
              <a:t> </a:t>
            </a:r>
            <a:r>
              <a:rPr dirty="0" sz="1400" b="1">
                <a:latin typeface="Arial"/>
                <a:cs typeface="Arial"/>
              </a:rPr>
              <a:t>CSV/Excel</a:t>
            </a:r>
            <a:r>
              <a:rPr dirty="0" sz="1400" spc="-4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dataset</a:t>
            </a:r>
            <a:r>
              <a:rPr dirty="0" sz="1400" spc="-1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8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400" spc="-10" b="1">
                <a:latin typeface="Arial"/>
                <a:cs typeface="Arial"/>
              </a:rPr>
              <a:t>Challenges: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5"/>
              </a:spcBef>
              <a:buChar char="•"/>
              <a:tabLst>
                <a:tab pos="756285" algn="l"/>
              </a:tabLst>
            </a:pPr>
            <a:r>
              <a:rPr dirty="0" sz="1400">
                <a:latin typeface="Arial"/>
                <a:cs typeface="Arial"/>
              </a:rPr>
              <a:t>Dynamic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website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content</a:t>
            </a:r>
            <a:r>
              <a:rPr dirty="0" sz="1400" spc="-10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&amp;</a:t>
            </a:r>
            <a:r>
              <a:rPr dirty="0" sz="1400" spc="-3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pagination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790"/>
              </a:spcBef>
              <a:buChar char="•"/>
              <a:tabLst>
                <a:tab pos="756285" algn="l"/>
              </a:tabLst>
            </a:pPr>
            <a:r>
              <a:rPr dirty="0" sz="1400" spc="-10">
                <a:latin typeface="Arial"/>
                <a:cs typeface="Arial"/>
              </a:rPr>
              <a:t>Handling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missing</a:t>
            </a:r>
            <a:r>
              <a:rPr dirty="0" sz="1400" spc="-4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or</a:t>
            </a:r>
            <a:r>
              <a:rPr dirty="0" sz="1400" spc="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inconsistent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805"/>
              </a:spcBef>
              <a:buChar char="•"/>
              <a:tabLst>
                <a:tab pos="756285" algn="l"/>
              </a:tabLst>
            </a:pPr>
            <a:r>
              <a:rPr dirty="0" sz="1400">
                <a:latin typeface="Arial"/>
                <a:cs typeface="Arial"/>
              </a:rPr>
              <a:t>Avoiding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IP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blocks</a:t>
            </a:r>
            <a:r>
              <a:rPr dirty="0" sz="1400" spc="-9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during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scraping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036" y="1130117"/>
            <a:ext cx="4241292" cy="5496234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2220" y="416051"/>
            <a:ext cx="4030979" cy="36880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5096" y="368884"/>
            <a:ext cx="38080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5">
                <a:latin typeface="Arial"/>
                <a:cs typeface="Arial"/>
              </a:rPr>
              <a:t>Web-</a:t>
            </a:r>
            <a:r>
              <a:rPr dirty="0" sz="2800" spc="-10">
                <a:latin typeface="Arial"/>
                <a:cs typeface="Arial"/>
              </a:rPr>
              <a:t>Scrapping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Code</a:t>
            </a:r>
            <a:r>
              <a:rPr dirty="0" sz="2800" spc="-120">
                <a:latin typeface="Arial"/>
                <a:cs typeface="Arial"/>
              </a:rPr>
              <a:t> </a:t>
            </a:r>
            <a:r>
              <a:rPr dirty="0" sz="2800" spc="-5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557" rIns="0" bIns="0" rtlCol="0" vert="horz">
            <a:spAutoFit/>
          </a:bodyPr>
          <a:lstStyle/>
          <a:p>
            <a:pPr marL="379730">
              <a:lnSpc>
                <a:spcPct val="100000"/>
              </a:lnSpc>
              <a:spcBef>
                <a:spcPts val="105"/>
              </a:spcBef>
            </a:pPr>
            <a:r>
              <a:rPr dirty="0" sz="2900">
                <a:latin typeface="Arial"/>
                <a:cs typeface="Arial"/>
              </a:rPr>
              <a:t>Dataset</a:t>
            </a:r>
            <a:r>
              <a:rPr dirty="0" sz="2900" spc="-7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Overview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6747" y="987552"/>
            <a:ext cx="4608576" cy="4843272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5111" y="1926412"/>
            <a:ext cx="4461510" cy="3452495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Arial"/>
                <a:cs typeface="Arial"/>
              </a:rPr>
              <a:t>Number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of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Records: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~[1824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*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10]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1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1800" b="1">
                <a:latin typeface="Arial"/>
                <a:cs typeface="Arial"/>
              </a:rPr>
              <a:t>Key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Features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/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Columns:</a:t>
            </a:r>
            <a:endParaRPr sz="18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1005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Brand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Manufacturer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the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AC</a:t>
            </a:r>
            <a:endParaRPr sz="16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Model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AC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model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name/number</a:t>
            </a:r>
            <a:endParaRPr sz="16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Capacity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Cooling</a:t>
            </a:r>
            <a:r>
              <a:rPr dirty="0" sz="1600" spc="-9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capacity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tons</a:t>
            </a:r>
            <a:endParaRPr sz="16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Star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Rating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7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Energy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efficiency</a:t>
            </a:r>
            <a:r>
              <a:rPr dirty="0" sz="1600" spc="-9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(1</a:t>
            </a:r>
            <a:r>
              <a:rPr dirty="0" sz="1600" spc="-10">
                <a:latin typeface="Segoe UI Symbol"/>
                <a:cs typeface="Segoe UI Symbol"/>
              </a:rPr>
              <a:t>★</a:t>
            </a:r>
            <a:r>
              <a:rPr dirty="0" sz="1600" spc="-10">
                <a:latin typeface="Arial"/>
                <a:cs typeface="Arial"/>
              </a:rPr>
              <a:t>–5</a:t>
            </a:r>
            <a:r>
              <a:rPr dirty="0" sz="1600" spc="-10">
                <a:latin typeface="Segoe UI Symbol"/>
                <a:cs typeface="Segoe UI Symbol"/>
              </a:rPr>
              <a:t>★</a:t>
            </a:r>
            <a:r>
              <a:rPr dirty="0" sz="1600" spc="-1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Inverter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9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Yes/No</a:t>
            </a:r>
            <a:endParaRPr sz="16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994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Units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Power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Usage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per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annually</a:t>
            </a:r>
            <a:endParaRPr sz="1600">
              <a:latin typeface="Arial"/>
              <a:cs typeface="Arial"/>
            </a:endParaRPr>
          </a:p>
          <a:p>
            <a:pPr lvl="1" marL="756285" indent="-286385">
              <a:lnSpc>
                <a:spcPct val="100000"/>
              </a:lnSpc>
              <a:spcBef>
                <a:spcPts val="1010"/>
              </a:spcBef>
              <a:buFont typeface="Arial"/>
              <a:buChar char="•"/>
              <a:tabLst>
                <a:tab pos="756285" algn="l"/>
              </a:tabLst>
            </a:pPr>
            <a:r>
              <a:rPr dirty="0" sz="1600" b="1">
                <a:latin typeface="Arial"/>
                <a:cs typeface="Arial"/>
              </a:rPr>
              <a:t>Price</a:t>
            </a:r>
            <a:r>
              <a:rPr dirty="0" sz="1600" spc="-35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–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Listed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price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in</a:t>
            </a:r>
            <a:r>
              <a:rPr dirty="0" sz="1600" spc="-6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INR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1559052"/>
            <a:ext cx="8311896" cy="50474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527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dirty="0" sz="4000" spc="-10">
                <a:latin typeface="Arial"/>
                <a:cs typeface="Arial"/>
              </a:rPr>
              <a:t>Sample</a:t>
            </a:r>
            <a:r>
              <a:rPr dirty="0" sz="4000" spc="-2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Dataset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4861" rIns="0" bIns="0" rtlCol="0" vert="horz">
            <a:spAutoFit/>
          </a:bodyPr>
          <a:lstStyle/>
          <a:p>
            <a:pPr marL="377825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dirty="0" spc="-4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Cleaning</a:t>
            </a:r>
            <a:r>
              <a:rPr dirty="0" spc="-3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&amp;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Preprocessing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635" y="1834641"/>
            <a:ext cx="7602220" cy="4229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6700" algn="l"/>
              </a:tabLst>
            </a:pPr>
            <a:r>
              <a:rPr dirty="0" sz="1800" b="1">
                <a:latin typeface="Arial"/>
                <a:cs typeface="Arial"/>
              </a:rPr>
              <a:t>Handling</a:t>
            </a:r>
            <a:r>
              <a:rPr dirty="0" sz="1800" spc="-1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Missing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Values: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Replaced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model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names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features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NaN</a:t>
            </a:r>
            <a:r>
              <a:rPr dirty="0" sz="1800" spc="-1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default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values.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Removed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rows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critical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missing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(e.g.,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price).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buAutoNum type="arabicPeriod" startAt="2"/>
              <a:tabLst>
                <a:tab pos="266700" algn="l"/>
              </a:tabLst>
            </a:pPr>
            <a:r>
              <a:rPr dirty="0" sz="1800" b="1">
                <a:latin typeface="Arial"/>
                <a:cs typeface="Arial"/>
              </a:rPr>
              <a:t>Data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Type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Conversion: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"/>
              <a:buAutoNum type="arabicPeriod" startAt="2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Converted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Capacity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columns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numeric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types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analysis.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95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Converted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Star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Rating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integer.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18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buAutoNum type="arabicPeriod" startAt="3"/>
              <a:tabLst>
                <a:tab pos="266700" algn="l"/>
              </a:tabLst>
            </a:pPr>
            <a:r>
              <a:rPr dirty="0" sz="1800" b="1">
                <a:latin typeface="Arial"/>
                <a:cs typeface="Arial"/>
              </a:rPr>
              <a:t>Removing</a:t>
            </a:r>
            <a:r>
              <a:rPr dirty="0" sz="1800" spc="-1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Duplicates: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"/>
              <a:buAutoNum type="arabicPeriod" startAt="3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Checked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removed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duplicate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entries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ensure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quality.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5078" y="766064"/>
            <a:ext cx="8866505" cy="3107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66700" algn="l"/>
              </a:tabLst>
            </a:pPr>
            <a:r>
              <a:rPr dirty="0" sz="1800" b="1">
                <a:latin typeface="Arial"/>
                <a:cs typeface="Arial"/>
              </a:rPr>
              <a:t>Feature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Standardization: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"/>
              <a:buAutoNum type="arabicPeriod" startAt="4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Standardized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brand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names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(e.g.,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“LG”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vs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“Lg”).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Standardized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room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sizes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inverter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values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consistent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formats.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800">
              <a:latin typeface="Arial"/>
              <a:cs typeface="Arial"/>
            </a:endParaRPr>
          </a:p>
          <a:p>
            <a:pPr marL="266700" indent="-254000">
              <a:lnSpc>
                <a:spcPct val="100000"/>
              </a:lnSpc>
              <a:buAutoNum type="arabicPeriod" startAt="5"/>
              <a:tabLst>
                <a:tab pos="266700" algn="l"/>
              </a:tabLst>
            </a:pPr>
            <a:r>
              <a:rPr dirty="0" sz="1800" b="1">
                <a:latin typeface="Arial"/>
                <a:cs typeface="Arial"/>
              </a:rPr>
              <a:t>Final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Dataset: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"/>
              <a:buAutoNum type="arabicPeriod" startAt="5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Clean,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structured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dataset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ready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analysis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and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visualization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0"/>
              </a:spcBef>
              <a:buFont typeface="Arial"/>
              <a:buChar char="•"/>
            </a:pPr>
            <a:endParaRPr sz="1800">
              <a:latin typeface="Arial"/>
              <a:cs typeface="Arial"/>
            </a:endParaRPr>
          </a:p>
          <a:p>
            <a:pPr lvl="1" marL="299085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dirty="0" sz="1800">
                <a:latin typeface="Arial"/>
                <a:cs typeface="Arial"/>
              </a:rPr>
              <a:t>Columns: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Brand,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Model,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Price,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Capacity,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Star_Rating,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Inverter,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Units,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Room_Size,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AI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63093"/>
            <a:ext cx="8646795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Exploratory</a:t>
            </a:r>
            <a:r>
              <a:rPr dirty="0" spc="-9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dirty="0" spc="-7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Analysis</a:t>
            </a:r>
            <a:r>
              <a:rPr dirty="0" spc="-5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(EDA)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0935" y="1496313"/>
            <a:ext cx="8726170" cy="1500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SzPct val="90000"/>
              <a:buAutoNum type="arabicPeriod"/>
              <a:tabLst>
                <a:tab pos="527685" algn="l"/>
              </a:tabLst>
            </a:pPr>
            <a:r>
              <a:rPr dirty="0" sz="2000" b="1">
                <a:latin typeface="Arial"/>
                <a:cs typeface="Arial"/>
              </a:rPr>
              <a:t>Statistical</a:t>
            </a:r>
            <a:r>
              <a:rPr dirty="0" sz="2000" spc="-13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Summary:</a:t>
            </a:r>
            <a:endParaRPr sz="20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2195"/>
              </a:spcBef>
              <a:buSzPct val="90000"/>
              <a:buChar char="•"/>
              <a:tabLst>
                <a:tab pos="812165" algn="l"/>
              </a:tabLst>
            </a:pPr>
            <a:r>
              <a:rPr dirty="0" sz="2000" spc="-10">
                <a:latin typeface="Arial"/>
                <a:cs typeface="Arial"/>
              </a:rPr>
              <a:t>Calculated</a:t>
            </a:r>
            <a:r>
              <a:rPr dirty="0" sz="2000" spc="-8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mean,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median,</a:t>
            </a:r>
            <a:r>
              <a:rPr dirty="0" sz="2000" spc="-8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and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mode</a:t>
            </a:r>
            <a:r>
              <a:rPr dirty="0" sz="2000" spc="-40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AC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prices.</a:t>
            </a:r>
            <a:endParaRPr sz="20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2210"/>
              </a:spcBef>
              <a:buSzPct val="90000"/>
              <a:buChar char="•"/>
              <a:tabLst>
                <a:tab pos="812165" algn="l"/>
              </a:tabLst>
            </a:pPr>
            <a:r>
              <a:rPr dirty="0" sz="2000">
                <a:latin typeface="Arial"/>
                <a:cs typeface="Arial"/>
              </a:rPr>
              <a:t>Provides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overview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central</a:t>
            </a:r>
            <a:r>
              <a:rPr dirty="0" sz="2000" spc="-114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tendency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spread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data.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252" y="3342132"/>
            <a:ext cx="3485388" cy="29702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3400044"/>
            <a:ext cx="4572000" cy="23789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0935" y="690854"/>
            <a:ext cx="4552315" cy="9626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395"/>
              </a:spcBef>
              <a:buAutoNum type="arabicPeriod" startAt="2"/>
              <a:tabLst>
                <a:tab pos="457200" algn="l"/>
              </a:tabLst>
            </a:pP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Distribution: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prices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bar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5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Identifying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ranges.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496" y="1956816"/>
            <a:ext cx="7188708" cy="45735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30935" y="690854"/>
            <a:ext cx="4654550" cy="962660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457200" indent="-444500">
              <a:lnSpc>
                <a:spcPct val="100000"/>
              </a:lnSpc>
              <a:spcBef>
                <a:spcPts val="395"/>
              </a:spcBef>
              <a:buAutoNum type="arabicPeriod" startAt="3"/>
              <a:tabLst>
                <a:tab pos="457200" algn="l"/>
              </a:tabLst>
            </a:pPr>
            <a:r>
              <a:rPr dirty="0" sz="1800" b="1">
                <a:latin typeface="Arial"/>
                <a:cs typeface="Arial"/>
              </a:rPr>
              <a:t>Brand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Distribution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across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Area: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Brand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Line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5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Identifying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various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Room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Sizes.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832" y="1865374"/>
            <a:ext cx="7174992" cy="4885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52093"/>
            <a:ext cx="7088505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30835" indent="-318135">
              <a:lnSpc>
                <a:spcPct val="100000"/>
              </a:lnSpc>
              <a:spcBef>
                <a:spcPts val="400"/>
              </a:spcBef>
              <a:buAutoNum type="arabicPeriod" startAt="4"/>
              <a:tabLst>
                <a:tab pos="330835" algn="l"/>
              </a:tabLst>
            </a:pPr>
            <a:r>
              <a:rPr dirty="0" sz="1800" spc="-30" b="1">
                <a:latin typeface="Arial"/>
                <a:cs typeface="Arial"/>
              </a:rPr>
              <a:t>Brand-</a:t>
            </a:r>
            <a:r>
              <a:rPr dirty="0" sz="1800" b="1">
                <a:latin typeface="Arial"/>
                <a:cs typeface="Arial"/>
              </a:rPr>
              <a:t>wise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Comparison: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Average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AC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prices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bar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plot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85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175" y="1909572"/>
            <a:ext cx="7286244" cy="42473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52093"/>
            <a:ext cx="7416165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400"/>
              </a:spcBef>
              <a:buAutoNum type="arabicPeriod" startAt="5"/>
              <a:tabLst>
                <a:tab pos="393065" algn="l"/>
              </a:tabLst>
            </a:pPr>
            <a:r>
              <a:rPr dirty="0" sz="1800" spc="-30" b="1">
                <a:latin typeface="Arial"/>
                <a:cs typeface="Arial"/>
              </a:rPr>
              <a:t>Brand-</a:t>
            </a:r>
            <a:r>
              <a:rPr dirty="0" sz="1800" b="1">
                <a:latin typeface="Arial"/>
                <a:cs typeface="Arial"/>
              </a:rPr>
              <a:t>wise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Power</a:t>
            </a:r>
            <a:r>
              <a:rPr dirty="0" sz="1800" spc="2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Distribution: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Average</a:t>
            </a:r>
            <a:r>
              <a:rPr dirty="0" sz="1800" spc="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power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usage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bar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plot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972" y="1748027"/>
            <a:ext cx="6769608" cy="46771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52093"/>
            <a:ext cx="8385809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400"/>
              </a:spcBef>
              <a:buAutoNum type="arabicPeriod" startAt="6"/>
              <a:tabLst>
                <a:tab pos="393065" algn="l"/>
              </a:tabLst>
            </a:pPr>
            <a:r>
              <a:rPr dirty="0" sz="1800" b="1">
                <a:latin typeface="Arial"/>
                <a:cs typeface="Arial"/>
              </a:rPr>
              <a:t>Power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Distribution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based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on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Star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Average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power</a:t>
            </a:r>
            <a:r>
              <a:rPr dirty="0" sz="1800" spc="-1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Distribution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bar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plot</a:t>
            </a:r>
            <a:r>
              <a:rPr dirty="0" sz="1800" spc="-9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Star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rating.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983" y="1808988"/>
            <a:ext cx="6844283" cy="4538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52093"/>
            <a:ext cx="8787130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400"/>
              </a:spcBef>
              <a:buAutoNum type="arabicPeriod" startAt="7"/>
              <a:tabLst>
                <a:tab pos="393065" algn="l"/>
              </a:tabLst>
            </a:pP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comparison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based</a:t>
            </a:r>
            <a:r>
              <a:rPr dirty="0" sz="1800" spc="-8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on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Area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Average</a:t>
            </a:r>
            <a:r>
              <a:rPr dirty="0" sz="1800" spc="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Comaprison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bar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plot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Different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areas.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224" y="1812035"/>
            <a:ext cx="7368540" cy="4741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52093"/>
            <a:ext cx="8978265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400"/>
              </a:spcBef>
              <a:buAutoNum type="arabicPeriod" startAt="8"/>
              <a:tabLst>
                <a:tab pos="393065" algn="l"/>
              </a:tabLst>
            </a:pP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comparison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based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on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Brands</a:t>
            </a:r>
            <a:r>
              <a:rPr dirty="0" sz="1800" spc="-5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Char char="•"/>
              <a:tabLst>
                <a:tab pos="812165" algn="l"/>
              </a:tabLst>
            </a:pPr>
            <a:r>
              <a:rPr dirty="0" sz="1800">
                <a:latin typeface="Arial"/>
                <a:cs typeface="Arial"/>
              </a:rPr>
              <a:t>Visualized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Average</a:t>
            </a:r>
            <a:r>
              <a:rPr dirty="0" sz="1800" spc="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Price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Comaprison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using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bar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plot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across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Different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839" y="1801367"/>
            <a:ext cx="7357872" cy="42870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49046"/>
            <a:ext cx="8256905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00"/>
              </a:spcBef>
              <a:buAutoNum type="arabicPeriod" startAt="9"/>
              <a:tabLst>
                <a:tab pos="354965" algn="l"/>
              </a:tabLst>
            </a:pPr>
            <a:r>
              <a:rPr dirty="0" sz="1800" b="1">
                <a:latin typeface="Times New Roman"/>
                <a:cs typeface="Times New Roman"/>
              </a:rPr>
              <a:t>Price</a:t>
            </a:r>
            <a:r>
              <a:rPr dirty="0" sz="1800" spc="-8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comparison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based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 spc="-6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Model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12165" algn="l"/>
              </a:tabLst>
            </a:pPr>
            <a:r>
              <a:rPr dirty="0" sz="1800">
                <a:latin typeface="Times New Roman"/>
                <a:cs typeface="Times New Roman"/>
              </a:rPr>
              <a:t>Visualized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Average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Price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Comaprison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bar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plot</a:t>
            </a:r>
            <a:r>
              <a:rPr dirty="0" sz="1800" spc="-55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across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Different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Models.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6883" y="1828800"/>
            <a:ext cx="8747760" cy="42351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7615" y="749046"/>
            <a:ext cx="6857365" cy="650240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00"/>
              </a:spcBef>
              <a:buAutoNum type="arabicPeriod" startAt="10"/>
              <a:tabLst>
                <a:tab pos="469265" algn="l"/>
              </a:tabLst>
            </a:pPr>
            <a:r>
              <a:rPr dirty="0" sz="1800" b="1">
                <a:latin typeface="Times New Roman"/>
                <a:cs typeface="Times New Roman"/>
              </a:rPr>
              <a:t>Price</a:t>
            </a:r>
            <a:r>
              <a:rPr dirty="0" sz="1800" spc="-7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comparison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based</a:t>
            </a:r>
            <a:r>
              <a:rPr dirty="0" sz="1800" spc="-1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AI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lvl="1" marL="812165" indent="-342265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812165" algn="l"/>
              </a:tabLst>
            </a:pPr>
            <a:r>
              <a:rPr dirty="0" sz="1800">
                <a:latin typeface="Times New Roman"/>
                <a:cs typeface="Times New Roman"/>
              </a:rPr>
              <a:t>Visualized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Average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Price</a:t>
            </a:r>
            <a:r>
              <a:rPr dirty="0" sz="1800" spc="-6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Comaprison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bar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plot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across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 b="1">
                <a:latin typeface="Times New Roman"/>
                <a:cs typeface="Times New Roman"/>
              </a:rPr>
              <a:t>AI.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272" y="1804416"/>
            <a:ext cx="8766048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17323" cy="67254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2470" rIns="0" bIns="0" rtlCol="0" vert="horz">
            <a:spAutoFit/>
          </a:bodyPr>
          <a:lstStyle/>
          <a:p>
            <a:pPr marL="45974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General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dirty="0" spc="-15">
                <a:latin typeface="Arial"/>
                <a:cs typeface="Arial"/>
              </a:rPr>
              <a:t> </a:t>
            </a:r>
            <a:r>
              <a:rPr dirty="0" spc="-10">
                <a:latin typeface="Arial"/>
                <a:cs typeface="Arial"/>
              </a:rPr>
              <a:t>Patterns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913130" y="1974850"/>
          <a:ext cx="9793605" cy="27089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2035"/>
                <a:gridCol w="4852035"/>
              </a:tblGrid>
              <a:tr h="5156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Metric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04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Observation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0604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Average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Price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₹27,000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₹32,000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₹15,000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₹60,000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Most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Common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Capacity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1.0</a:t>
                      </a:r>
                      <a:r>
                        <a:rPr dirty="0" sz="18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Ton</a:t>
                      </a:r>
                      <a:r>
                        <a:rPr dirty="0" sz="18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(around</a:t>
                      </a:r>
                      <a:r>
                        <a:rPr dirty="0"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50%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all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ACs)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Most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Common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Star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Rating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3-</a:t>
                      </a:r>
                      <a:r>
                        <a:rPr dirty="0" sz="1800" spc="-20" b="1">
                          <a:latin typeface="Calibri"/>
                          <a:cs typeface="Calibri"/>
                        </a:rPr>
                        <a:t>Star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Inverter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>
                          <a:latin typeface="Calibri"/>
                          <a:cs typeface="Calibri"/>
                        </a:rPr>
                        <a:t>Share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~70%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products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AI</a:t>
                      </a:r>
                      <a:r>
                        <a:rPr dirty="0" sz="18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Feature</a:t>
                      </a:r>
                      <a:r>
                        <a:rPr dirty="0" sz="18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Share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~30%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products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973023" y="4954676"/>
            <a:ext cx="8960485" cy="126047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Interpretation: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ts val="324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Mid-</a:t>
            </a:r>
            <a:r>
              <a:rPr dirty="0" sz="1800">
                <a:latin typeface="Calibri"/>
                <a:cs typeface="Calibri"/>
              </a:rPr>
              <a:t>range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1.0-ton,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3-</a:t>
            </a:r>
            <a:r>
              <a:rPr dirty="0" sz="1800">
                <a:latin typeface="Calibri"/>
                <a:cs typeface="Calibri"/>
              </a:rPr>
              <a:t>star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inverter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dominate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market,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reflecting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consumer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preference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for </a:t>
            </a:r>
            <a:r>
              <a:rPr dirty="0" sz="1800">
                <a:latin typeface="Calibri"/>
                <a:cs typeface="Calibri"/>
              </a:rPr>
              <a:t>energy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efficiency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moderate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cooling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capacity.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180" y="345186"/>
            <a:ext cx="370903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Brand </a:t>
            </a:r>
            <a:r>
              <a:rPr dirty="0" spc="-10"/>
              <a:t>Analysis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57326" y="1517650"/>
          <a:ext cx="9793605" cy="219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690"/>
                <a:gridCol w="3234690"/>
                <a:gridCol w="3234689"/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Brand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Median</a:t>
                      </a:r>
                      <a:r>
                        <a:rPr dirty="0" sz="18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8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latin typeface="Calibri"/>
                          <a:cs typeface="Calibri"/>
                        </a:rPr>
                        <a:t>(₹)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Segment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LG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~36,000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Premium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Samsung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~34,000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Premium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Voltas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~29,000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Mid-range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MarQ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~21,000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Budget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Midea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~26,000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Budget-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Mid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42619" y="4093844"/>
            <a:ext cx="8219440" cy="1671955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Insights: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spcBef>
                <a:spcPts val="108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Voltas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MarQ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dominate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budget segment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(&lt;₹25k).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spcBef>
                <a:spcPts val="108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LG</a:t>
            </a:r>
            <a:r>
              <a:rPr dirty="0" sz="1800" spc="-4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Samsung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target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premium inverter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AC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market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(&gt;₹32k).</a:t>
            </a:r>
            <a:endParaRPr sz="1800">
              <a:latin typeface="Arial"/>
              <a:cs typeface="Arial"/>
            </a:endParaRPr>
          </a:p>
          <a:p>
            <a:pPr marL="91440" indent="-88900">
              <a:lnSpc>
                <a:spcPct val="100000"/>
              </a:lnSpc>
              <a:spcBef>
                <a:spcPts val="1080"/>
              </a:spcBef>
              <a:buSzPct val="94444"/>
              <a:buFont typeface="Arial"/>
              <a:buChar char="•"/>
              <a:tabLst>
                <a:tab pos="91440" algn="l"/>
              </a:tabLst>
            </a:pPr>
            <a:r>
              <a:rPr dirty="0" sz="1800" b="1">
                <a:latin typeface="Arial"/>
                <a:cs typeface="Arial"/>
              </a:rPr>
              <a:t>Midea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offers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competitive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pricing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with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AI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inverter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features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mid-</a:t>
            </a:r>
            <a:r>
              <a:rPr dirty="0" sz="1800">
                <a:latin typeface="Arial"/>
                <a:cs typeface="Arial"/>
              </a:rPr>
              <a:t>level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prices.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1180" y="345186"/>
            <a:ext cx="43256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Capacity</a:t>
            </a:r>
            <a:r>
              <a:rPr dirty="0" spc="-20"/>
              <a:t> </a:t>
            </a:r>
            <a:r>
              <a:rPr dirty="0"/>
              <a:t>vs. </a:t>
            </a:r>
            <a:r>
              <a:rPr dirty="0" spc="-10"/>
              <a:t>Price</a:t>
            </a: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57326" y="1596771"/>
          <a:ext cx="9793605" cy="18281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4690"/>
                <a:gridCol w="3234690"/>
                <a:gridCol w="3234689"/>
              </a:tblGrid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Capacity</a:t>
                      </a:r>
                      <a:r>
                        <a:rPr dirty="0" sz="18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0" b="1">
                          <a:latin typeface="Calibri"/>
                          <a:cs typeface="Calibri"/>
                        </a:rPr>
                        <a:t>(Ton)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b="1">
                          <a:latin typeface="Calibri"/>
                          <a:cs typeface="Calibri"/>
                        </a:rPr>
                        <a:t>Avg</a:t>
                      </a:r>
                      <a:r>
                        <a:rPr dirty="0" sz="18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b="1">
                          <a:latin typeface="Calibri"/>
                          <a:cs typeface="Calibri"/>
                        </a:rPr>
                        <a:t>Price</a:t>
                      </a:r>
                      <a:r>
                        <a:rPr dirty="0" sz="18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 b="1">
                          <a:latin typeface="Calibri"/>
                          <a:cs typeface="Calibri"/>
                        </a:rPr>
                        <a:t>(₹)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 b="1">
                          <a:latin typeface="Calibri"/>
                          <a:cs typeface="Calibri"/>
                        </a:rPr>
                        <a:t>Trend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20">
                          <a:latin typeface="Calibri"/>
                          <a:cs typeface="Calibri"/>
                        </a:rPr>
                        <a:t>0.75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~19,000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Budget</a:t>
                      </a:r>
                      <a:r>
                        <a:rPr dirty="0" sz="180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compact</a:t>
                      </a:r>
                      <a:r>
                        <a:rPr dirty="0" sz="18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1.0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~27,000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Standard</a:t>
                      </a:r>
                      <a:r>
                        <a:rPr dirty="0" sz="1800" spc="-10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segment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~32,000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Premium</a:t>
                      </a:r>
                      <a:r>
                        <a:rPr dirty="0" sz="18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segment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2.0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~38,000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 spc="-10">
                          <a:latin typeface="Calibri"/>
                          <a:cs typeface="Calibri"/>
                        </a:rPr>
                        <a:t>High-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end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12700">
                      <a:solidFill>
                        <a:srgbClr val="F79546"/>
                      </a:solidFill>
                      <a:prstDash val="solid"/>
                    </a:lnB>
                    <a:solidFill>
                      <a:srgbClr val="FCEEE9"/>
                    </a:solidFill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48411" y="4168521"/>
            <a:ext cx="9732645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80"/>
              </a:spcBef>
            </a:pPr>
            <a:r>
              <a:rPr dirty="0" sz="1800" spc="-10" b="1">
                <a:solidFill>
                  <a:srgbClr val="FF0000"/>
                </a:solidFill>
                <a:latin typeface="Arial"/>
                <a:cs typeface="Arial"/>
              </a:rPr>
              <a:t>Observation: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Arial"/>
                <a:cs typeface="Arial"/>
              </a:rPr>
              <a:t>Price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increases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proportionally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with</a:t>
            </a:r>
            <a:r>
              <a:rPr dirty="0" sz="1800" spc="-7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capacity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showing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clear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linear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trend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(correlation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≈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+0.7).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525" rIns="0" bIns="0" rtlCol="0" vert="horz">
            <a:spAutoFit/>
          </a:bodyPr>
          <a:lstStyle/>
          <a:p>
            <a:pPr marL="377825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dirty="0" spc="-20"/>
              <a:t> </a:t>
            </a:r>
            <a:r>
              <a:rPr dirty="0" spc="-10"/>
              <a:t>Questions: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635" y="2092274"/>
            <a:ext cx="9660255" cy="2599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Which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brands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offer the</a:t>
            </a:r>
            <a:r>
              <a:rPr dirty="0" sz="2400" spc="-8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best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value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for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money</a:t>
            </a:r>
            <a:r>
              <a:rPr dirty="0" sz="2400" spc="-1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2005"/>
              </a:spcBef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How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do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features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like</a:t>
            </a:r>
            <a:r>
              <a:rPr dirty="0" sz="2400" spc="-95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capacity,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star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rating,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and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inverter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technology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impact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</a:pPr>
            <a:r>
              <a:rPr dirty="0" sz="2400" spc="-10">
                <a:latin typeface="Times New Roman"/>
                <a:cs typeface="Times New Roman"/>
              </a:rPr>
              <a:t>price?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4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dirty="0" sz="2400">
                <a:latin typeface="Times New Roman"/>
                <a:cs typeface="Times New Roman"/>
              </a:rPr>
              <a:t>What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are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the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seasonal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trends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in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AC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pricing?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6332" y="1850135"/>
            <a:ext cx="4465320" cy="28346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3213" y="2955798"/>
            <a:ext cx="2301875" cy="137033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0499"/>
              </a:lnSpc>
              <a:spcBef>
                <a:spcPts val="75"/>
              </a:spcBef>
            </a:pPr>
            <a:r>
              <a:rPr dirty="0" spc="220" b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dirty="0" spc="235" b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Surya Namburi</dc:creator>
  <dc:title>PowerPoint Presentation</dc:title>
  <dcterms:created xsi:type="dcterms:W3CDTF">2025-11-13T01:42:33Z</dcterms:created>
  <dcterms:modified xsi:type="dcterms:W3CDTF">2025-11-13T01:42:33Z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2025-11-13T00:00:00Z</vt:filetime>
  </property>
  <property fmtid="{D5CDD505-2E9C-101B-9397-08002B2CF9AE}" pid="5" name="Producer">
    <vt:lpwstr>3-Heights(TM) PDF Security Shell 4.8.25.2 (http://www.pdf-tools.com)</vt:lpwstr>
  </property>
</Properties>
</file>